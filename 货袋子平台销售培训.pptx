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75120" y="0"/>
            <a:ext cx="5516575" cy="6858000"/>
          </a:xfrm>
          <a:prstGeom prst="rect">
            <a:avLst/>
          </a:prstGeom>
          <a:solidFill>
            <a:srgbClr val="08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B020"/>
                </a:solidFill>
                <a:latin typeface="Microsoft YaHei"/>
              </a:rPr>
              <a:t>内部培训 · 一线执行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</a:rPr>
              <a:t>货袋子平台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78608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 i="0">
                <a:solidFill>
                  <a:srgbClr val="F26A21"/>
                </a:solidFill>
                <a:latin typeface="Microsoft YaHei"/>
              </a:rPr>
              <a:t>销售培训手册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639312"/>
            <a:ext cx="1645920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500" b="0">
                <a:solidFill>
                  <a:srgbClr val="C6D8E8"/>
                </a:solidFill>
                <a:latin typeface="Microsoft YaHei"/>
              </a:rPr>
              <a:t>三天上手：会接待、会开通、会成交 </a:t>
            </a:r>
            <a:r>
              <a:rPr sz="1500" b="1">
                <a:solidFill>
                  <a:srgbClr val="FFFFFF"/>
                </a:solidFill>
                <a:latin typeface="Microsoft YaHei"/>
              </a:rPr>
              <a:t>980</a:t>
            </a:r>
            <a:r>
              <a:rPr sz="1500" b="0">
                <a:solidFill>
                  <a:srgbClr val="C6D8E8"/>
                </a:solidFill>
                <a:latin typeface="Microsoft YaHei"/>
              </a:rPr>
              <a:t>，并讲清 1980 / 9800 / 19800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500" b="0">
                <a:solidFill>
                  <a:srgbClr val="7E9CB8"/>
                </a:solidFill>
                <a:latin typeface="Microsoft YaHei"/>
              </a:rPr>
              <a:t>www.huodaizi.com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3317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FB020"/>
                </a:solidFill>
                <a:latin typeface="Microsoft YaHei"/>
              </a:rPr>
              <a:t>不做交易 · 不抽成 · 不碰你的客户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306324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2,100+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5021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EACC6"/>
                </a:solidFill>
                <a:latin typeface="Microsoft YaHei"/>
              </a:rPr>
              <a:t>入驻商家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06324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20,000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5021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EACC6"/>
                </a:solidFill>
                <a:latin typeface="Microsoft YaHei"/>
              </a:rPr>
              <a:t>平台用户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97764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1,000+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44165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EACC6"/>
                </a:solidFill>
                <a:latin typeface="Microsoft YaHei"/>
              </a:rPr>
              <a:t>每日搜索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97764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150万吨+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44165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8EACC6"/>
                </a:solidFill>
                <a:latin typeface="Microsoft YaHei"/>
              </a:rPr>
              <a:t>日活跃库存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TRAINING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这份培训要达到什么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三天之后，新销售必须能独立跑单——不是“懂产品”，是“会动作”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2444419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2444419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24444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1" i="0">
                <a:solidFill>
                  <a:srgbClr val="0F2B46"/>
                </a:solidFill>
                <a:latin typeface="Microsoft YaHei"/>
              </a:rPr>
              <a:t>背 5 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9192"/>
            <a:ext cx="24444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五档一句话零错误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3411" y="1783080"/>
            <a:ext cx="2444419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3411" y="1783080"/>
            <a:ext cx="2444419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3411" y="2020824"/>
            <a:ext cx="24444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1" i="0">
                <a:solidFill>
                  <a:srgbClr val="0F2B46"/>
                </a:solidFill>
                <a:latin typeface="Microsoft YaHei"/>
              </a:rPr>
              <a:t>背 4 个数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411" y="2679192"/>
            <a:ext cx="24444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平台数据零错误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862" y="1783080"/>
            <a:ext cx="2444419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3862" y="1783080"/>
            <a:ext cx="2444419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3862" y="2020824"/>
            <a:ext cx="24444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1" i="0">
                <a:solidFill>
                  <a:srgbClr val="0F2B46"/>
                </a:solidFill>
                <a:latin typeface="Microsoft YaHei"/>
              </a:rPr>
              <a:t>问 3 个问题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3862" y="2679192"/>
            <a:ext cx="24444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三问法自然问出并总结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24313" y="1783080"/>
            <a:ext cx="2444419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24313" y="1783080"/>
            <a:ext cx="2444419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4313" y="2020824"/>
            <a:ext cx="24444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1" i="0">
                <a:solidFill>
                  <a:srgbClr val="0F2B46"/>
                </a:solidFill>
                <a:latin typeface="Microsoft YaHei"/>
              </a:rPr>
              <a:t>做 3 个动作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3" y="2679192"/>
            <a:ext cx="24444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开通·铺资源·出海报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703320"/>
            <a:ext cx="10561320" cy="2103120"/>
          </a:xfrm>
          <a:prstGeom prst="rect">
            <a:avLst/>
          </a:prstGeom>
          <a:solidFill>
            <a:srgbClr val="F4F6F9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703320"/>
            <a:ext cx="64008" cy="210312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9136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0F2B46"/>
                </a:solidFill>
                <a:latin typeface="Microsoft YaHei"/>
              </a:rPr>
              <a:t>出师标准（四条全达标才可独立跑单）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370832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1">
                <a:solidFill>
                  <a:srgbClr val="F26A21"/>
                </a:solidFill>
                <a:latin typeface="Microsoft YaHei"/>
              </a:rPr>
              <a:t>① </a:t>
            </a:r>
            <a:r>
              <a:rPr sz="1550" b="0">
                <a:solidFill>
                  <a:srgbClr val="1D2A36"/>
                </a:solidFill>
                <a:latin typeface="Microsoft YaHei"/>
              </a:rPr>
              <a:t>五档一句话零错误；</a:t>
            </a:r>
            <a:r>
              <a:rPr sz="1550" b="1">
                <a:solidFill>
                  <a:srgbClr val="F26A21"/>
                </a:solidFill>
                <a:latin typeface="Microsoft YaHei"/>
              </a:rPr>
              <a:t>② </a:t>
            </a:r>
            <a:r>
              <a:rPr sz="1550" b="0">
                <a:solidFill>
                  <a:srgbClr val="1D2A36"/>
                </a:solidFill>
                <a:latin typeface="Microsoft YaHei"/>
              </a:rPr>
              <a:t>平台四个数据零错误；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1">
                <a:solidFill>
                  <a:srgbClr val="F26A21"/>
                </a:solidFill>
                <a:latin typeface="Microsoft YaHei"/>
              </a:rPr>
              <a:t>③ </a:t>
            </a:r>
            <a:r>
              <a:rPr sz="1550" b="0">
                <a:solidFill>
                  <a:srgbClr val="1D2A36"/>
                </a:solidFill>
                <a:latin typeface="Microsoft YaHei"/>
              </a:rPr>
              <a:t>三问法能自然问出并总结客户的话；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1">
                <a:solidFill>
                  <a:srgbClr val="F26A21"/>
                </a:solidFill>
                <a:latin typeface="Microsoft YaHei"/>
              </a:rPr>
              <a:t>④ </a:t>
            </a:r>
            <a:r>
              <a:rPr sz="1550" b="0">
                <a:solidFill>
                  <a:srgbClr val="1D2A36"/>
                </a:solidFill>
                <a:latin typeface="Microsoft YaHei"/>
              </a:rPr>
              <a:t>能独立完成“当场开通 + 铺满资源 + 做出一张行情海报”三个动作。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培训目录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512064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54864" cy="8686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4884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26A21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11226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2B46"/>
                </a:solidFill>
                <a:latin typeface="Microsoft YaHei"/>
              </a:rPr>
              <a:t>地基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先懂三件事 + 平台底气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965960"/>
            <a:ext cx="512064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54864" cy="8686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14884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26A21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11226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2B46"/>
                </a:solidFill>
                <a:latin typeface="Microsoft YaHei"/>
              </a:rPr>
              <a:t>五档产品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4688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价值定位与话术包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990088"/>
            <a:ext cx="512064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2990088"/>
            <a:ext cx="54864" cy="8686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172968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26A21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3639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2B46"/>
                </a:solidFill>
                <a:latin typeface="Microsoft YaHei"/>
              </a:rPr>
              <a:t>价格结构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4930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线索单价里的秘密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990088"/>
            <a:ext cx="512064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990088"/>
            <a:ext cx="54864" cy="8686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172968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26A21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13639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2B46"/>
                </a:solidFill>
                <a:latin typeface="Microsoft YaHei"/>
              </a:rPr>
              <a:t>销售路径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4930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从陌拜到 9,800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014216"/>
            <a:ext cx="512064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014216"/>
            <a:ext cx="54864" cy="8686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4197096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26A21"/>
                </a:solidFill>
                <a:latin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160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2B46"/>
                </a:solidFill>
                <a:latin typeface="Microsoft YaHei"/>
              </a:rPr>
              <a:t>痛点沟通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4517136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三问法与三个算账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014216"/>
            <a:ext cx="512064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014216"/>
            <a:ext cx="54864" cy="8686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4197096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26A21"/>
                </a:solidFill>
                <a:latin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160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2B46"/>
                </a:solidFill>
                <a:latin typeface="Microsoft YaHei"/>
              </a:rPr>
              <a:t>抗拒解除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517136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17 个异议标准答案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038344"/>
            <a:ext cx="512064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5038344"/>
            <a:ext cx="54864" cy="8686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" y="5221224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26A21"/>
                </a:solidFill>
                <a:latin typeface="Microsoft YaHe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1846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2B46"/>
                </a:solidFill>
                <a:latin typeface="Microsoft YaHei"/>
              </a:rPr>
              <a:t>成交动作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554126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三前提与三句话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038344"/>
            <a:ext cx="512064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5038344"/>
            <a:ext cx="54864" cy="8686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9672" y="5221224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26A21"/>
                </a:solidFill>
                <a:latin typeface="Microsoft YaHe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1846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2B46"/>
                </a:solidFill>
                <a:latin typeface="Microsoft YaHei"/>
              </a:rPr>
              <a:t>培训与红线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54126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考核标准与 9 条纪律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840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244C71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46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地基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224528"/>
            <a:ext cx="1371600" cy="381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A9C2D8"/>
                </a:solidFill>
                <a:latin typeface="Microsoft YaHei"/>
              </a:rPr>
              <a:t>讲错了，后面全错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257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7E9CB8"/>
                </a:solidFill>
                <a:latin typeface="Microsoft YaHei"/>
              </a:rPr>
              <a:t>三句地基  ·  平台底气  ·  海报机制  ·  团队与创始人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00" b="1" i="0">
                <a:solidFill>
                  <a:srgbClr val="2C577C"/>
                </a:solidFill>
                <a:latin typeface="Microsoft YaHei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B020"/>
                </a:solidFill>
                <a:latin typeface="Microsoft YaHei"/>
              </a:rPr>
              <a:t>地基一 · 我们卖的不是交易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966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我们不抽成、不碰你的客户、不跟你抢生意。
买家看到你，直接联系你、你自己谈、自己收钱。
我们只负责让买家看到你、相信你。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983480"/>
            <a:ext cx="1097280" cy="381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A9C2D8"/>
                </a:solidFill>
                <a:latin typeface="Microsoft YaHei"/>
              </a:rPr>
              <a:t>这是全场第一个必答题的标准答案，也是我们对交易平台的结构性差异化。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地基二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五档不是“功能多少”，是四段不同的价值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61320" cy="33101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3291840"/>
                <a:gridCol w="4526280"/>
              </a:tblGrid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档位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它真正解决的问题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客户心里的那句话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1D2A36"/>
                          </a:solidFill>
                          <a:latin typeface="Microsoft YaHei"/>
                        </a:rPr>
                        <a:t>标准版 ￥0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0F2B46"/>
                          </a:solidFill>
                          <a:latin typeface="Microsoft YaHei"/>
                        </a:rPr>
                        <a:t>有没有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0">
                          <a:solidFill>
                            <a:srgbClr val="1D2A36"/>
                          </a:solidFill>
                          <a:latin typeface="Microsoft YaHei"/>
                        </a:rPr>
                        <a:t>网上搜不到我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1D2A36"/>
                          </a:solidFill>
                          <a:latin typeface="Microsoft YaHei"/>
                        </a:rPr>
                        <a:t>专业版 ￥980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F26A21"/>
                          </a:solidFill>
                          <a:latin typeface="Microsoft YaHei"/>
                        </a:rPr>
                        <a:t>有没有用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0">
                          <a:solidFill>
                            <a:srgbClr val="1D2A36"/>
                          </a:solidFill>
                          <a:latin typeface="Microsoft YaHei"/>
                        </a:rPr>
                        <a:t>发了半天不知道有没有效果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1D2A36"/>
                          </a:solidFill>
                          <a:latin typeface="Microsoft YaHei"/>
                        </a:rPr>
                        <a:t>认证版 ￥1,980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F26A21"/>
                          </a:solidFill>
                          <a:latin typeface="Microsoft YaHei"/>
                        </a:rPr>
                        <a:t>敢不敢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0">
                          <a:solidFill>
                            <a:srgbClr val="1D2A36"/>
                          </a:solidFill>
                          <a:latin typeface="Microsoft YaHei"/>
                        </a:rPr>
                        <a:t>陌生买家不敢找我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1D2A36"/>
                          </a:solidFill>
                          <a:latin typeface="Microsoft YaHei"/>
                        </a:rPr>
                        <a:t>旗舰版 ￥9,800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0F2B46"/>
                          </a:solidFill>
                          <a:latin typeface="Microsoft YaHei"/>
                        </a:rPr>
                        <a:t>多不多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0">
                          <a:solidFill>
                            <a:srgbClr val="1D2A36"/>
                          </a:solidFill>
                          <a:latin typeface="Microsoft YaHei"/>
                        </a:rPr>
                        <a:t>排在第三页等于没挂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1D2A36"/>
                          </a:solidFill>
                          <a:latin typeface="Microsoft YaHei"/>
                        </a:rPr>
                        <a:t>尊享版 ￥19,800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0F2B46"/>
                          </a:solidFill>
                          <a:latin typeface="Microsoft YaHei"/>
                        </a:rPr>
                        <a:t>是不是第一眼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0">
                          <a:solidFill>
                            <a:srgbClr val="1D2A36"/>
                          </a:solidFill>
                          <a:latin typeface="Microsoft YaHei"/>
                        </a:rPr>
                        <a:t>线下有名号，线上没体现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532120"/>
            <a:ext cx="10561320" cy="65836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7058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FFFFFF"/>
                </a:solidFill>
                <a:latin typeface="Microsoft YaHei"/>
              </a:rPr>
              <a:t>记忆口诀： 0 免费占位 → 980 看效果 → 1980 建信任 → 9800 抢流量 → 19800 做品牌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00" b="1" i="0">
                <a:solidFill>
                  <a:srgbClr val="2C577C"/>
                </a:solidFill>
                <a:latin typeface="Microsoft YaHei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B020"/>
                </a:solidFill>
                <a:latin typeface="Microsoft YaHei"/>
              </a:rPr>
              <a:t>地基三 · 最重要的功能是“看得见、摸不着”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966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免费版能看到有多少条线索，但看不到具体是谁。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983480"/>
            <a:ext cx="1097280" cy="381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A9C2D8"/>
                </a:solidFill>
                <a:latin typeface="Microsoft YaHei"/>
              </a:rPr>
              <a:t>所以第一次拜访不要卖 980。只做三件事：让他免费开通、把库存铺上去、教他发一张海报。
销售不靠说服，靠等线索自己出现。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平台底气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先给硬数据：“你们平台到底有没有人”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这是全场第二个必答题。以公司每月统一发布口径为准。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2444419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2444419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24444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0F2B46"/>
                </a:solidFill>
                <a:latin typeface="Microsoft YaHei"/>
              </a:rPr>
              <a:t>2,100+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9192"/>
            <a:ext cx="24444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入驻商家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3411" y="1783080"/>
            <a:ext cx="2444419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3411" y="1783080"/>
            <a:ext cx="2444419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3411" y="2020824"/>
            <a:ext cx="24444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0F2B46"/>
                </a:solidFill>
                <a:latin typeface="Microsoft YaHei"/>
              </a:rPr>
              <a:t>20,000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411" y="2679192"/>
            <a:ext cx="24444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平台用户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862" y="1783080"/>
            <a:ext cx="2444419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3862" y="1783080"/>
            <a:ext cx="2444419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3862" y="2020824"/>
            <a:ext cx="24444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0F2B46"/>
                </a:solidFill>
                <a:latin typeface="Microsoft YaHei"/>
              </a:rPr>
              <a:t>1,000+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3862" y="2679192"/>
            <a:ext cx="24444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每日搜索次数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24313" y="1783080"/>
            <a:ext cx="2444419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24313" y="1783080"/>
            <a:ext cx="2444419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4313" y="2020824"/>
            <a:ext cx="24444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0F2B46"/>
                </a:solidFill>
                <a:latin typeface="Microsoft YaHei"/>
              </a:rPr>
              <a:t>150万吨+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3" y="2679192"/>
            <a:ext cx="24444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日活跃库存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886200"/>
            <a:ext cx="10561320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886200"/>
            <a:ext cx="64008" cy="9144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0416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讲数据必须带趋势：“而且这个量每个月都在往上走。”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4165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A9C2D8"/>
                </a:solidFill>
                <a:latin typeface="Microsoft YaHei"/>
              </a:rPr>
              <a:t>静态数字让人评估，增长趋势让人怕错过。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206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红线：</a:t>
            </a:r>
            <a:r>
              <a:rPr sz="1400" b="0">
                <a:solidFill>
                  <a:srgbClr val="1D2A36"/>
                </a:solidFill>
                <a:latin typeface="Microsoft YaHei"/>
              </a:rPr>
              <a:t>只用公司每月统一发布的数据；不许把“用户数”说成“买家数”、“搜索次数”说成“询盘数”——一次被识破，全部信任状失效。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平台底气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六大流量来源：回答“我上来之后谁会看到我”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3346704" cy="166420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3346704" cy="5715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91056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F26A21"/>
                </a:solidFill>
                <a:latin typeface="Microsoft YaHei"/>
              </a:rPr>
              <a:t>3,000 家老客户
在平台上找货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3017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A6B7B"/>
                </a:solidFill>
                <a:latin typeface="Microsoft YaHei"/>
              </a:rPr>
              <a:t>最硬的一条，必讲：不是买来的流量，是我们服务多年的真实钢贸企业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1371600"/>
            <a:ext cx="3346704" cy="166420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371600"/>
            <a:ext cx="3346704" cy="571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591056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F2B46"/>
                </a:solidFill>
                <a:latin typeface="Microsoft YaHei"/>
              </a:rPr>
              <a:t>30 多位全国销售员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67712"/>
            <a:ext cx="3017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A6B7B"/>
                </a:solidFill>
                <a:latin typeface="Microsoft YaHei"/>
              </a:rPr>
              <a:t>天天在各地市场上一家一家推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0144" y="1371600"/>
            <a:ext cx="3346704" cy="166420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371600"/>
            <a:ext cx="3346704" cy="571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1591056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F2B46"/>
                </a:solidFill>
                <a:latin typeface="Microsoft YaHei"/>
              </a:rPr>
              <a:t>每天两场行情直播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267712"/>
            <a:ext cx="3017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A6B7B"/>
                </a:solidFill>
                <a:latin typeface="Microsoft YaHei"/>
              </a:rPr>
              <a:t>早盘一场、下午一场，买家养成了看行情的习惯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46119"/>
            <a:ext cx="3346704" cy="166420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246119"/>
            <a:ext cx="3346704" cy="571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65575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F2B46"/>
                </a:solidFill>
                <a:latin typeface="Microsoft YaHei"/>
              </a:rPr>
              <a:t>每天近 30 条短视频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42231"/>
            <a:ext cx="3017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A6B7B"/>
                </a:solidFill>
                <a:latin typeface="Microsoft YaHei"/>
              </a:rPr>
              <a:t>平台自己在往外推，您不是孤军奋战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6552" y="3246119"/>
            <a:ext cx="3346704" cy="166420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6552" y="3246119"/>
            <a:ext cx="3346704" cy="571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3465575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F2B46"/>
                </a:solidFill>
                <a:latin typeface="Microsoft YaHei"/>
              </a:rPr>
              <a:t>1 万多件 T 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142231"/>
            <a:ext cx="3017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A6B7B"/>
                </a:solidFill>
                <a:latin typeface="Microsoft YaHei"/>
              </a:rPr>
              <a:t>发给驾驶员与库房工人 —— 流动品宣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0144" y="3246119"/>
            <a:ext cx="3346704" cy="166420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3246119"/>
            <a:ext cx="3346704" cy="5715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4" y="3465575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F2B46"/>
                </a:solidFill>
                <a:latin typeface="Microsoft YaHei"/>
              </a:rPr>
              <a:t>商家自己用海报裂变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4142231"/>
            <a:ext cx="3017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A6B7B"/>
                </a:solidFill>
                <a:latin typeface="Microsoft YaHei"/>
              </a:rPr>
              <a:t>前五条是平台给您导流，这一条是您自己拓客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623560"/>
            <a:ext cx="10561320" cy="5669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75157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FFFFFF"/>
                </a:solidFill>
                <a:latin typeface="Microsoft YaHei"/>
              </a:rPr>
              <a:t>一句话收口：“平台推流 + 您自己曝光，两边一起来。”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00" b="1" i="0">
                <a:solidFill>
                  <a:srgbClr val="2C577C"/>
                </a:solidFill>
                <a:latin typeface="Microsoft YaHei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B020"/>
                </a:solidFill>
                <a:latin typeface="Microsoft YaHei"/>
              </a:rPr>
              <a:t>开场破冰故事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966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我们印了一万多件 T 恤，发给了跑车的驾驶员和库房的工人。
这些人每天在多少个库房、多少家公司之间来回跑——
他们就是这行里流动性最强的一群人。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983480"/>
            <a:ext cx="1097280" cy="381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A9C2D8"/>
                </a:solidFill>
                <a:latin typeface="Microsoft YaHei"/>
              </a:rPr>
              <a:t>它有画面、有规模感，但真正的作用是证明我们在真花钱做事。
在钢贸这种熟人行业，“看得见的投入”比任何 PPT 都可信。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话术方法论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把“机会”讲成“损失”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这是免费开通说服力的分水岭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512064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5120640" cy="63500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0253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5A6B7B"/>
                </a:solidFill>
                <a:latin typeface="Microsoft YaHei"/>
              </a:rPr>
              <a:t>✕  机会框架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D2A36"/>
                </a:solidFill>
                <a:latin typeface="Microsoft YaHei"/>
              </a:rPr>
              <a:t>“您上来可以获得曝光。”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175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B"/>
                </a:solidFill>
                <a:latin typeface="Microsoft YaHei"/>
              </a:rPr>
              <a:t>客户的反应：可有可无，以后再说。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120640" cy="1828800"/>
          </a:xfrm>
          <a:prstGeom prst="rect">
            <a:avLst/>
          </a:prstGeom>
          <a:solidFill>
            <a:srgbClr val="FFFFFF"/>
          </a:solidFill>
          <a:ln w="2032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20640" cy="635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0253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26A21"/>
                </a:solidFill>
                <a:latin typeface="Microsoft YaHei"/>
              </a:rPr>
              <a:t>✓  损失框架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04872"/>
            <a:ext cx="46634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D2A36"/>
                </a:solidFill>
                <a:latin typeface="Microsoft YaHei"/>
              </a:rPr>
              <a:t>“每天 1,000 多次搜索，一年 36 万多次。只要有一次搜的是您常做的规格而您没挂上去，这个客户就去别家了。”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160520"/>
            <a:ext cx="1056132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160520"/>
            <a:ext cx="54864" cy="8686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708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2B46"/>
                </a:solidFill>
                <a:latin typeface="Microsoft YaHei"/>
              </a:rPr>
              <a:t>“平台上已经挂了 150 万吨货，买家现在搜到的都是别人家的——您的库存还在自己仓库里躺着。”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257800"/>
            <a:ext cx="10561320" cy="74980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440680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免费开通的说服逻辑升级：从“您先试试看” → “您不挂上去，这 1,000 次搜索里搜到您的机会是零”。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海报机制 · 980 的价值地基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为什么发我们的海报有人看，发他自己的没人看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商家自己发朋友圈最大的问题，不是没有工具，是没有内容。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83080"/>
          <a:ext cx="10561319" cy="23225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3749039"/>
                <a:gridCol w="461772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他自己发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用我们的海报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1D2A36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0">
                          <a:solidFill>
                            <a:srgbClr val="1D2A36"/>
                          </a:solidFill>
                          <a:latin typeface="Microsoft YaHei"/>
                        </a:rPr>
                        <a:t>“我有货、我有货”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F26A21"/>
                          </a:solidFill>
                          <a:latin typeface="Microsoft YaHei"/>
                        </a:rPr>
                        <a:t>一半是今日行情，一半是他的现货资源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1D2A36"/>
                          </a:solidFill>
                          <a:latin typeface="Microsoft YaHei"/>
                        </a:rPr>
                        <a:t>买家为什么打开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0">
                          <a:solidFill>
                            <a:srgbClr val="1D2A36"/>
                          </a:solidFill>
                          <a:latin typeface="Microsoft YaHei"/>
                        </a:rPr>
                        <a:t>没理由，看两次就屏蔽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F26A21"/>
                          </a:solidFill>
                          <a:latin typeface="Microsoft YaHei"/>
                        </a:rPr>
                        <a:t>买家每天都要看价格 —— 行情是刚需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1D2A36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0">
                          <a:solidFill>
                            <a:srgbClr val="1D2A36"/>
                          </a:solidFill>
                          <a:latin typeface="Microsoft YaHei"/>
                        </a:rPr>
                        <a:t>发了等于没发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F26A21"/>
                          </a:solidFill>
                          <a:latin typeface="Microsoft YaHei"/>
                        </a:rPr>
                        <a:t>为了看行情点开，顺手看到了他的货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4617720"/>
            <a:ext cx="10561320" cy="7772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617720"/>
            <a:ext cx="64008" cy="77724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18888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核心机制：行情数据由平台免费提供 —— 商家用“买家想看的内容”，带自己想卖的货。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235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600" b="0">
                <a:solidFill>
                  <a:srgbClr val="1D2A36"/>
                </a:solidFill>
                <a:latin typeface="Microsoft YaHei"/>
              </a:rPr>
              <a:t>它同时解掉那个高频抗拒（“我自己也会做图”）：</a:t>
            </a:r>
            <a:r>
              <a:rPr sz="1600" b="1">
                <a:solidFill>
                  <a:srgbClr val="F26A21"/>
                </a:solidFill>
                <a:latin typeface="Microsoft YaHei"/>
              </a:rPr>
              <a:t>“您会做图，但您没有行情数据。”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00" b="1" i="0">
                <a:solidFill>
                  <a:srgbClr val="2C577C"/>
                </a:solidFill>
                <a:latin typeface="Microsoft YaHei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B020"/>
                </a:solidFill>
                <a:latin typeface="Microsoft YaHei"/>
              </a:rPr>
              <a:t>必背话术 · 逐字复述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966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您让销售天天发“我有货”，客户看两次就屏蔽了。
但行情不一样——买家每天都得看价格。
我们把行情数据免费给您用，海报一半行情、一半您的现货：
客户为了看行情点开，顺手就看到了您的货。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983480"/>
            <a:ext cx="1097280" cy="381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A9C2D8"/>
                </a:solidFill>
                <a:latin typeface="Microsoft YaHei"/>
              </a:rPr>
              <a:t>Day 0 当场做海报时，必须边做边讲这套逻辑。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信任状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团队与创始人：为什么这个平台靠得住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用法纪律：这些是“降低风险感”的信任状，不是“制造购买欲”的卖点——只在客户提出疑虑时用。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512064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5120640" cy="4572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83080"/>
            <a:ext cx="50292" cy="4572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近 40 位研发工程师 · 公司近 100 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04872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F26A21"/>
                </a:solidFill>
                <a:latin typeface="Microsoft YaHei"/>
              </a:rPr>
              <a:t>用在：</a:t>
            </a:r>
            <a:r>
              <a:rPr sz="1300" b="0">
                <a:solidFill>
                  <a:srgbClr val="1D2A36"/>
                </a:solidFill>
                <a:latin typeface="Microsoft YaHei"/>
              </a:rPr>
              <a:t>“你们公司多大”“会不会做两年就没了”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1D2A36"/>
                </a:solidFill>
                <a:latin typeface="Microsoft YaHei"/>
              </a:rPr>
              <a:t>“光研发工程师就有近 40 位，公司近 100 人。平台每个月都在更新——您现在上，后面加的新功能都是白得的。”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12064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20640" cy="4572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0292" cy="4572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客服团队 + 客户成功团队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04872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F26A21"/>
                </a:solidFill>
                <a:latin typeface="Microsoft YaHei"/>
              </a:rPr>
              <a:t>用在：</a:t>
            </a:r>
            <a:r>
              <a:rPr sz="1300" b="0">
                <a:solidFill>
                  <a:srgbClr val="1D2A36"/>
                </a:solidFill>
                <a:latin typeface="Microsoft YaHei"/>
              </a:rPr>
              <a:t>“买了会不会没人管”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1D2A36"/>
                </a:solidFill>
                <a:latin typeface="Microsoft YaHei"/>
              </a:rPr>
              <a:t>三层服务：全员每周运营指导课 → 认证版起有在线人工客服 → 旗舰/尊享配专属顾问与 1 对 1 客户成功经理。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160520"/>
            <a:ext cx="10561320" cy="1874519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160520"/>
            <a:ext cx="64008" cy="1874519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43400"/>
            <a:ext cx="10058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FFB020"/>
                </a:solidFill>
                <a:latin typeface="Microsoft YaHei"/>
              </a:rPr>
              <a:t>创始人是钢贸老板出身：做过销售、管过财务、当过总经理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73168"/>
            <a:ext cx="101041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用法一 · 打“不懂行”：</a:t>
            </a:r>
            <a:r>
              <a:rPr sz="1350" b="0">
                <a:solidFill>
                  <a:srgbClr val="C6D8E8"/>
                </a:solidFill>
                <a:latin typeface="Microsoft YaHei"/>
              </a:rPr>
              <a:t>“平台上每个功能，都是他当年被折磨过之后想出来的，不是互联网公司拍脑袋做的。”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用法二 · 解释“为什么不做交易”（更重要）：</a:t>
            </a:r>
            <a:r>
              <a:rPr sz="1350" b="0">
                <a:solidFill>
                  <a:srgbClr val="C6D8E8"/>
                </a:solidFill>
                <a:latin typeface="Microsoft YaHei"/>
              </a:rPr>
              <a:t>“他自己就是钢贸老板出身，最清楚商家最怕平台抢客户，所以我们从第一天就定死了：不做交易、不抽成、不碰您的客户。”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00" b="1" i="0">
                <a:solidFill>
                  <a:srgbClr val="2C577C"/>
                </a:solidFill>
                <a:latin typeface="Microsoft YaHei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B020"/>
                </a:solidFill>
                <a:latin typeface="Microsoft YaHei"/>
              </a:rPr>
              <a:t>为什么创始人这张牌威力这么大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966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说清动机之后，“不做交易”就从一个承诺，变成了立场。
而立场比承诺可信。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840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244C71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46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五档产品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224528"/>
            <a:ext cx="1371600" cy="381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A9C2D8"/>
                </a:solidFill>
                <a:latin typeface="Microsoft YaHei"/>
              </a:rPr>
              <a:t>价值定位 · 一句话 · 三句痛点 · 下单引导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257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7E9CB8"/>
                </a:solidFill>
                <a:latin typeface="Microsoft YaHei"/>
              </a:rPr>
              <a:t>0 元  ·  980  ·  1,980  ·  9,800  ·  19,800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全景表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五档价值阶梯（背下来这张表）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371600"/>
          <a:ext cx="10881360" cy="3730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3080"/>
                <a:gridCol w="3520440"/>
                <a:gridCol w="868680"/>
                <a:gridCol w="470916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档位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一句话介绍（必须背）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线索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核心武器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1D2A36"/>
                          </a:solidFill>
                          <a:latin typeface="Microsoft YaHei"/>
                        </a:rPr>
                        <a:t>标准版
￥0 永久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D2A36"/>
                          </a:solidFill>
                          <a:latin typeface="Microsoft YaHei"/>
                        </a:rPr>
                        <a:t>先免费开个店，把库存挂上去，让买家能搜到你。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5A6B7B"/>
                          </a:solidFill>
                          <a:latin typeface="Microsoft YaHei"/>
                        </a:rPr>
                        <a:t>0</a:t>
                      </a:r>
                      <a:r>
                        <a:rPr sz="1250" b="0">
                          <a:solidFill>
                            <a:srgbClr val="5A6B7B"/>
                          </a:solidFill>
                          <a:latin typeface="Microsoft YaHei"/>
                        </a:rPr>
                        <a:t>
只见条数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D2A36"/>
                          </a:solidFill>
                          <a:latin typeface="Microsoft YaHei"/>
                        </a:rPr>
                        <a:t>不限上架 · 平台曝光 · 数据看板 · 海报 7 天体验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1D2A36"/>
                          </a:solidFill>
                          <a:latin typeface="Microsoft YaHei"/>
                        </a:rPr>
                        <a:t>专业版
￥980/年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26A21"/>
                          </a:solidFill>
                          <a:latin typeface="Microsoft YaHei"/>
                        </a:rPr>
                        <a:t>让你的销售每天发的朋友圈，第一次能看见效果。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26A21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D2A36"/>
                          </a:solidFill>
                          <a:latin typeface="Microsoft YaHei"/>
                        </a:rPr>
                        <a:t>行情+现货海报 · 经营数据看板 · 工商认证 · 信用分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1D2A36"/>
                          </a:solidFill>
                          <a:latin typeface="Microsoft YaHei"/>
                        </a:rPr>
                        <a:t>认证版
￥1,980/年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26A21"/>
                          </a:solidFill>
                          <a:latin typeface="Microsoft YaHei"/>
                        </a:rPr>
                        <a:t>让陌生买家敢联系你。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26A21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D2A36"/>
                          </a:solidFill>
                          <a:latin typeface="Microsoft YaHei"/>
                        </a:rPr>
                        <a:t>五维认证 · 精装店铺 · 认证加权排名 · 推荐 1 次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1D2A36"/>
                          </a:solidFill>
                          <a:latin typeface="Microsoft YaHei"/>
                        </a:rPr>
                        <a:t>旗舰版
￥9,800/年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D2A36"/>
                          </a:solidFill>
                          <a:latin typeface="Microsoft YaHei"/>
                        </a:rPr>
                        <a:t>让平台把流量推给你，而不是等买家碰巧找到你。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0F2B46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D2A36"/>
                          </a:solidFill>
                          <a:latin typeface="Microsoft YaHei"/>
                        </a:rPr>
                        <a:t>推荐 7 次 · Banner 3 次 · 置顶 5 次 · 专属顾问 · 上镜位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1D2A36"/>
                          </a:solidFill>
                          <a:latin typeface="Microsoft YaHei"/>
                        </a:rPr>
                        <a:t>尊享版
￥19,800/年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D2A36"/>
                          </a:solidFill>
                          <a:latin typeface="Microsoft YaHei"/>
                        </a:rPr>
                        <a:t>在这个平台上，成为买家第一眼看到的那家。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0F2B46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D2A36"/>
                          </a:solidFill>
                          <a:latin typeface="Microsoft YaHei"/>
                        </a:rPr>
                        <a:t>品牌店 · 首页 Banner · 首页置顶 · 1 对 1 客户成功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产品话术包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标准版　￥0 / 永久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入场券：让企业先在平台上“存在”，并亲眼看到平台能带来什么。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61320" cy="10241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64008" cy="102412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9280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B020"/>
                </a:solidFill>
                <a:latin typeface="Microsoft YaHei"/>
              </a:rPr>
              <a:t>一句话介绍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先免费开个店，把库存挂上去，让买家能搜到你。一分钱不花，永久有效。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81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26A21"/>
                </a:solidFill>
                <a:latin typeface="Microsoft YaHei"/>
              </a:rPr>
              <a:t>三句话讲痛点与价值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65576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465576"/>
            <a:ext cx="50292" cy="6217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2B46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557016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我们平台每天 1,000 多次搜索。只要有一次搜的是您常做的规格而您没挂上去，这客户就去别家了。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178808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178808"/>
            <a:ext cx="50292" cy="6217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2511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2B46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270248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您的库存现在只有老客户知道——货压在库里不是没人要，是没人看见。平台上已经挂了 150 万吨。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892040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92040"/>
            <a:ext cx="50292" cy="6217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38344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2B46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983480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免费全挂上去，还蹭平台推流：3,000 家老客户在找货、30 多个销售员在推、每天两场直播、30 条短视频。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733288"/>
            <a:ext cx="10561320" cy="74980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87959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引导下单： 这个不要钱，也不用签合同，我现在用您的营业执照帮您开好，两分钟。您把常备规格发我，我顺手挂上去。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产品话术包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专业版　￥980 / 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让“看不见效果的营销动作”第一次变得可衡量。核心是营销工具 + 数据看板，不是工商认证。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61320" cy="10241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64008" cy="102412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9280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B020"/>
                </a:solidFill>
                <a:latin typeface="Microsoft YaHei"/>
              </a:rPr>
              <a:t>一句话介绍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行情数据免费给您，海报一半行情、一半您的现货——客户为了看行情点开，顺手看到您的货；而且谁看了、从哪来、哪个员工最有效，全看得见。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81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26A21"/>
                </a:solidFill>
                <a:latin typeface="Microsoft YaHei"/>
              </a:rPr>
              <a:t>三句话讲痛点与价值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65576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465576"/>
            <a:ext cx="50292" cy="621792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26A21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557016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您让销售天天发朋友圈，发的是不是都是“我有货”？客户看两次就屏蔽了——这个动作做了等于没做。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178808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178808"/>
            <a:ext cx="50292" cy="621792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2511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26A21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270248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而且您不知道有没有用，他自己也不知道。好销售最怕干没意义的事——人不是被累走的，是被“不知道为什么要做”磨走的。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892040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92040"/>
            <a:ext cx="50292" cy="621792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38344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26A21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983480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上了两件事变了：内容变了（行情带货），效果看得见了（谁扫的、从哪来、哪个员工最有效）。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733288"/>
            <a:ext cx="10561320" cy="74980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87959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引导下单： 980 一年，一天不到 3 块钱，等于给全公司销售配一套能看见效果的拓客工具，还带 3 条平台线索。我现在给您开，今天就能发第一张海报。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产品话术包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认证版　￥1,980 / 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把“陌生买家不敢联系你”这个问题解决掉。全线性价比最高的一档。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61320" cy="10241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64008" cy="102412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9280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B020"/>
                </a:solidFill>
                <a:latin typeface="Microsoft YaHei"/>
              </a:rPr>
              <a:t>一句话介绍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让陌生买家敢联系你——五维认证加精装店铺，扫码进来一眼就看明白你是谁、有多少实力。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81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26A21"/>
                </a:solidFill>
                <a:latin typeface="Microsoft YaHei"/>
              </a:rPr>
              <a:t>三句话讲痛点与价值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65576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465576"/>
            <a:ext cx="50292" cy="621792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26A21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557016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买家看到两家价格差不多，一家有认证、店铺清清楚楚，另一家什么都没有——他会打给谁？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178808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178808"/>
            <a:ext cx="50292" cy="621792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2511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26A21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270248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钢贸买家最怕遇到不靠谱的、怕一货多卖、怕付了钱提不到货。他不是不想找您，是不敢找您。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892040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92040"/>
            <a:ext cx="50292" cy="621792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38344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26A21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983480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五维认证 + 精装店铺让买家敢联系您；认证还加权排名，同样的货您排得更靠前。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733288"/>
            <a:ext cx="10561320" cy="74980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87959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引导下单： 从 980 到 1980 只多 1,000 块，线索从 3 条变 10 条——多的这 7 条相当于一条 143 块，还白得五维认证和精装店铺。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产品话术包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旗舰版　￥9,800 / 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从“等买家找到你”变成“平台主动把买家推给你”。卖的是曝光位，不是线索单价。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61320" cy="10241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64008" cy="102412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9280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B020"/>
                </a:solidFill>
                <a:latin typeface="Microsoft YaHei"/>
              </a:rPr>
              <a:t>一句话介绍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让平台把流量推给你——推荐位 7 次、找钢材 Banner 3 次、资源置顶 5 次，再配一个专属运营顾问。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81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26A21"/>
                </a:solidFill>
                <a:latin typeface="Microsoft YaHei"/>
              </a:rPr>
              <a:t>三句话讲痛点与价值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65576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465576"/>
            <a:ext cx="50292" cy="6217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2B46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557016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平台上货越来越多，买家看得过来的就前面那几家。您的资源挂上去了，但排在第三页——等于没挂。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178808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178808"/>
            <a:ext cx="50292" cy="6217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2511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2B46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270248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发海报是“自己找客户”；推荐位和置顶位是“把找货的买家直接送到您面前”。两件事的效率不一样。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892040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92040"/>
            <a:ext cx="50292" cy="6217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38344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2B46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983480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30 条线索之外，专属顾问会告诉您什么时间挂什么规格、什么价位发海报最有效——这套方法比位置更值钱。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733288"/>
            <a:ext cx="10561320" cy="74980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87959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引导下单： 9,800 一年，一个月 800 多块，换平台主动给您导流 + 一个懂行的顾问带着做。前面效果已经出来了，放大就靠这一档。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产品话术包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尊享版　￥19,800 / 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在平台上确立第一梯队的品牌地位，并配 1 对 1 客户成功。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61320" cy="10241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64008" cy="102412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9280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B020"/>
                </a:solidFill>
                <a:latin typeface="Microsoft YaHei"/>
              </a:rPr>
              <a:t>一句话介绍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在这个平台上，成为买家第一眼看到的那家——品牌专属店铺、首页 Banner、首页置顶，加 1 对 1 客户成功经理。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81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26A21"/>
                </a:solidFill>
                <a:latin typeface="Microsoft YaHei"/>
              </a:rPr>
              <a:t>三句话讲痛点与价值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65576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465576"/>
            <a:ext cx="50292" cy="6217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2B46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557016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您在本地是有名号的，但线上买家看您和看一家小贸易商没区别——线下的品牌优势没被体现出来。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178808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178808"/>
            <a:ext cx="50292" cy="6217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2511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2B46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270248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买家看价格，也看“跟谁买最稳”。第一眼看到谁，谁就有先发优势，这个位置不是有钱就能随时买到。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892040"/>
            <a:ext cx="10561320" cy="621792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92040"/>
            <a:ext cx="50292" cy="62179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38344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2B46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983480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D2A36"/>
                </a:solidFill>
                <a:latin typeface="Microsoft YaHei"/>
              </a:rPr>
              <a:t>品牌店 + 首页位置 + 15 次推荐 + 50 条线索 + 1 对 1 经理全年跟着——把线上做成第二个销售渠道。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733288"/>
            <a:ext cx="10561320" cy="74980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87959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引导下单： 这一档一年只放有限名额（按平台位置容量核定）。您是这个区域的头部，位置被同行占了，再想上就得等下一年。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840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244C71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46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价格结构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224528"/>
            <a:ext cx="1371600" cy="381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A9C2D8"/>
                </a:solidFill>
                <a:latin typeface="Microsoft YaHei"/>
              </a:rPr>
              <a:t>线索单价里藏着一个甜蜜点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257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7E9CB8"/>
                </a:solidFill>
                <a:latin typeface="Microsoft YaHei"/>
              </a:rPr>
              <a:t>327 元  ·  198 元  ·  327 元  ·  396 元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定价武器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单条线索成本对照表（背下来）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61320" cy="2724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/>
                <a:gridCol w="1554480"/>
                <a:gridCol w="1280160"/>
                <a:gridCol w="1645920"/>
                <a:gridCol w="438912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Microsoft YaHei"/>
                        </a:rPr>
                        <a:t>档位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Microsoft YaHei"/>
                        </a:rPr>
                        <a:t>价格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Microsoft YaHei"/>
                        </a:rPr>
                        <a:t>线索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Microsoft YaHei"/>
                        </a:rPr>
                        <a:t>单条成本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Microsoft YaHei"/>
                        </a:rPr>
                        <a:t>销售怎么用</a:t>
                      </a:r>
                    </a:p>
                  </a:txBody>
                  <a:tcPr marL="100584" marR="73152" marT="41148" marB="41148" anchor="ctr">
                    <a:solidFill>
                      <a:srgbClr val="0F2B4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1D2A36"/>
                          </a:solidFill>
                          <a:latin typeface="Microsoft YaHei"/>
                        </a:rPr>
                        <a:t>专业版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D2A36"/>
                          </a:solidFill>
                          <a:latin typeface="Microsoft YaHei"/>
                        </a:rPr>
                        <a:t>￥980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D2A36"/>
                          </a:solidFill>
                          <a:latin typeface="Microsoft YaHei"/>
                        </a:rPr>
                        <a:t>3 条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D2A36"/>
                          </a:solidFill>
                          <a:latin typeface="Microsoft YaHei"/>
                        </a:rPr>
                        <a:t>327 元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D2A36"/>
                          </a:solidFill>
                          <a:latin typeface="Microsoft YaHei"/>
                        </a:rPr>
                        <a:t>入门，先验证真假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1D2A36"/>
                          </a:solidFill>
                          <a:latin typeface="Microsoft YaHei"/>
                        </a:rPr>
                        <a:t>认证版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F26A21"/>
                          </a:solidFill>
                          <a:latin typeface="Microsoft YaHei"/>
                        </a:rPr>
                        <a:t>￥1,980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F26A21"/>
                          </a:solidFill>
                          <a:latin typeface="Microsoft YaHei"/>
                        </a:rPr>
                        <a:t>10 条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F26A21"/>
                          </a:solidFill>
                          <a:latin typeface="Microsoft YaHei"/>
                        </a:rPr>
                        <a:t>198 元 ★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F26A21"/>
                          </a:solidFill>
                          <a:latin typeface="Microsoft YaHei"/>
                        </a:rPr>
                        <a:t>全线最低！主推升级点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1D2A36"/>
                          </a:solidFill>
                          <a:latin typeface="Microsoft YaHei"/>
                        </a:rPr>
                        <a:t>旗舰版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D2A36"/>
                          </a:solidFill>
                          <a:latin typeface="Microsoft YaHei"/>
                        </a:rPr>
                        <a:t>￥9,800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D2A36"/>
                          </a:solidFill>
                          <a:latin typeface="Microsoft YaHei"/>
                        </a:rPr>
                        <a:t>30 条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D2A36"/>
                          </a:solidFill>
                          <a:latin typeface="Microsoft YaHei"/>
                        </a:rPr>
                        <a:t>327 元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D2A36"/>
                          </a:solidFill>
                          <a:latin typeface="Microsoft YaHei"/>
                        </a:rPr>
                        <a:t>不讲线索单价，讲曝光位</a:t>
                      </a:r>
                    </a:p>
                  </a:txBody>
                  <a:tcPr marL="100584" marR="73152" marT="41148" marB="4114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1D2A36"/>
                          </a:solidFill>
                          <a:latin typeface="Microsoft YaHei"/>
                        </a:rPr>
                        <a:t>尊享版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D2A36"/>
                          </a:solidFill>
                          <a:latin typeface="Microsoft YaHei"/>
                        </a:rPr>
                        <a:t>￥19,800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D2A36"/>
                          </a:solidFill>
                          <a:latin typeface="Microsoft YaHei"/>
                        </a:rPr>
                        <a:t>50 条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D2A36"/>
                          </a:solidFill>
                          <a:latin typeface="Microsoft YaHei"/>
                        </a:rPr>
                        <a:t>396 元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D2A36"/>
                          </a:solidFill>
                          <a:latin typeface="Microsoft YaHei"/>
                        </a:rPr>
                        <a:t>不讲线索单价，讲首页与品牌</a:t>
                      </a:r>
                    </a:p>
                  </a:txBody>
                  <a:tcPr marL="100584" marR="73152" marT="41148" marB="4114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4114800"/>
            <a:ext cx="10561320" cy="96012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245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E6D0"/>
                </a:solidFill>
                <a:latin typeface="Microsoft YaHei"/>
              </a:rPr>
              <a:t>黄金升级话术（边际成本只有 143 元/条）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35424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“再加 1,000 块升到 1,980，线索变 10 条——多出来的 7 条一条才 143 块，认证和精装店铺白送。”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85232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0F2B46"/>
                </a:solidFill>
                <a:latin typeface="Microsoft YaHei"/>
              </a:rPr>
              <a:t>纪律一：</a:t>
            </a:r>
            <a:r>
              <a:rPr sz="1400" b="0">
                <a:solidFill>
                  <a:srgbClr val="1D2A36"/>
                </a:solidFill>
                <a:latin typeface="Microsoft YaHei"/>
              </a:rPr>
              <a:t>1,980 是全线性价比最高、最容易成交的升级——只要客户认可线索质量，这一步顺理成章。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纪律二：</a:t>
            </a:r>
            <a:r>
              <a:rPr sz="1400" b="0">
                <a:solidFill>
                  <a:srgbClr val="1D2A36"/>
                </a:solidFill>
                <a:latin typeface="Microsoft YaHei"/>
              </a:rPr>
              <a:t>9,800 与 19,800 绝不能用线索单价销售（会被当场算出更贵）。它们卖的是位置、品牌、专属服务。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840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244C71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46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销售路径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224528"/>
            <a:ext cx="1371600" cy="381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A9C2D8"/>
                </a:solidFill>
                <a:latin typeface="Microsoft YaHei"/>
              </a:rPr>
              <a:t>从陌拜到 9,800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257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7E9CB8"/>
                </a:solidFill>
                <a:latin typeface="Microsoft YaHei"/>
              </a:rPr>
              <a:t>Day 0  ·  第 7—10 天  ·  第 30—60 天  ·  第 90—120 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路径全景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五个阶段：不要在第一次见面卖 980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免费开通没有抗性，而 7 天体验期与线索条数会自动产生成交理由。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2002536" cy="228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2002536" cy="47548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92808"/>
            <a:ext cx="2002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Day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423160"/>
            <a:ext cx="17282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50" b="1" i="0">
                <a:solidFill>
                  <a:srgbClr val="0F2B46"/>
                </a:solidFill>
                <a:latin typeface="Microsoft YaHei"/>
              </a:rPr>
              <a:t>首次拜访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34640"/>
            <a:ext cx="17282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A6B7B"/>
                </a:solidFill>
                <a:latin typeface="Microsoft YaHei"/>
              </a:rPr>
              <a:t>免费开通 + 铺满资源
+ 当场做一张海报 + 加微信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0068" y="26974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2656" y="1783080"/>
            <a:ext cx="2002536" cy="228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783080"/>
            <a:ext cx="2002536" cy="47548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1892808"/>
            <a:ext cx="2002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2—6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423160"/>
            <a:ext cx="17282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50" b="1" i="0">
                <a:solidFill>
                  <a:srgbClr val="0F2B46"/>
                </a:solidFill>
                <a:latin typeface="Microsoft YaHei"/>
              </a:rPr>
              <a:t>轻触达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834640"/>
            <a:ext cx="17282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A6B7B"/>
                </a:solidFill>
                <a:latin typeface="Microsoft YaHei"/>
              </a:rPr>
              <a:t>帮他做当日行情海报
带他看一次数据 · 不谈钱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9764" y="26974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2352" y="1783080"/>
            <a:ext cx="2002536" cy="228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02352" y="1783080"/>
            <a:ext cx="2002536" cy="47548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1892808"/>
            <a:ext cx="2002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7—10 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2423160"/>
            <a:ext cx="17282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50" b="1" i="0">
                <a:solidFill>
                  <a:srgbClr val="0F2B46"/>
                </a:solidFill>
                <a:latin typeface="Microsoft YaHei"/>
              </a:rPr>
              <a:t>成交 980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834640"/>
            <a:ext cx="17282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A6B7B"/>
                </a:solidFill>
                <a:latin typeface="Microsoft YaHei"/>
              </a:rPr>
              <a:t>双钩子：有线索用线索
没线索用“工具到期 + 认证”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9460" y="26974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42048" y="1783080"/>
            <a:ext cx="2002536" cy="228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42048" y="1783080"/>
            <a:ext cx="2002536" cy="47548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1892808"/>
            <a:ext cx="2002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30—60 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423160"/>
            <a:ext cx="17282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50" b="1" i="0">
                <a:solidFill>
                  <a:srgbClr val="0F2B46"/>
                </a:solidFill>
                <a:latin typeface="Microsoft YaHei"/>
              </a:rPr>
              <a:t>升 1,980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2834640"/>
            <a:ext cx="17282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A6B7B"/>
                </a:solidFill>
                <a:latin typeface="Microsoft YaHei"/>
              </a:rPr>
              <a:t>线索太少 + 买家不敢联系
→ 143 元/条 的黄金话术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9156" y="26974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81744" y="1783080"/>
            <a:ext cx="2002536" cy="228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81744" y="1783080"/>
            <a:ext cx="2002536" cy="47548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81744" y="1892808"/>
            <a:ext cx="2002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90—120 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2423160"/>
            <a:ext cx="17282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50" b="1" i="0">
                <a:solidFill>
                  <a:srgbClr val="0F2B46"/>
                </a:solidFill>
                <a:latin typeface="Microsoft YaHei"/>
              </a:rPr>
              <a:t>升 9,800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8048" y="2834640"/>
            <a:ext cx="17282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5A6B7B"/>
                </a:solidFill>
                <a:latin typeface="Microsoft YaHei"/>
              </a:rPr>
              <a:t>排名不够 + 曝光不够
→ 平台导流 + 专属顾问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709160"/>
            <a:ext cx="10561320" cy="7772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4709160"/>
            <a:ext cx="64008" cy="77724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4919472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FFFFF"/>
                </a:solidFill>
                <a:latin typeface="Microsoft YaHei"/>
              </a:rPr>
              <a:t>另有三类客户可直通 19,800：区域头部/有品牌的商家 · 已在其他平台大量投入的 · 有专职线上运营团队的。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715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26A21"/>
                </a:solidFill>
                <a:latin typeface="Microsoft YaHei"/>
              </a:rPr>
              <a:t>核心原则：销售不靠说服，靠等线索自己出现。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Day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第一次拜访只做四个动作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不讲五个版本、不报价、不讲功能表。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512064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54864" cy="129844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4767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2B46"/>
                </a:solidFill>
                <a:latin typeface="Microsoft YaHei"/>
              </a:rPr>
              <a:t>① 当场免费开通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000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要营业执照、常备规格、联系电话。
不当场做，就永远做不成。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512064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4864" cy="129844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4767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2B46"/>
                </a:solidFill>
                <a:latin typeface="Microsoft YaHei"/>
              </a:rPr>
              <a:t>② 当场铺 5—10 个规格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000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挂得越满，后面线索越多——
这一步直接决定 7 天后能不能成交。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64408"/>
            <a:ext cx="5120640" cy="1298448"/>
          </a:xfrm>
          <a:prstGeom prst="rect">
            <a:avLst/>
          </a:prstGeom>
          <a:solidFill>
            <a:srgbClr val="FFFFFF"/>
          </a:solidFill>
          <a:ln w="2032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264408"/>
            <a:ext cx="54864" cy="12984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429000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26A21"/>
                </a:solidFill>
                <a:latin typeface="Microsoft YaHei"/>
              </a:rPr>
              <a:t>③ 当场做一张“行情 + 现货”海报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831336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上半行情（平台免费提供）、下半他的现货，
发到他手机上让他当场转到客户群。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264408"/>
            <a:ext cx="512064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264408"/>
            <a:ext cx="54864" cy="129844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429000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2B46"/>
                </a:solidFill>
                <a:latin typeface="Microsoft YaHei"/>
              </a:rPr>
              <a:t>④ 加微信 + 埋钩子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31336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“我这七天帮您盯着，有线索我第一时间告诉您。”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892040"/>
            <a:ext cx="10561320" cy="96012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029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E6D0"/>
                </a:solidFill>
                <a:latin typeface="Microsoft YaHei"/>
              </a:rPr>
              <a:t>做海报时必须边做边说：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40096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“您看，一半行情一半您的货——客户为了看价格点开，顺手就看到您的资源了。这个内容客户才愿意看。”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第 7—10 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成交 980 的双钩子：没有线索时也能成交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培训重点：一定要教会新人第二个钩子，否则平台早期销售会全线卡死。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5120640" cy="237744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5120640" cy="4572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83080"/>
            <a:ext cx="50292" cy="4572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钩子一 · 线索（首选）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04872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F26A21"/>
                </a:solidFill>
                <a:latin typeface="Microsoft YaHei"/>
              </a:rPr>
              <a:t>适用：</a:t>
            </a:r>
            <a:r>
              <a:rPr sz="1350" b="0">
                <a:solidFill>
                  <a:srgbClr val="1D2A36"/>
                </a:solidFill>
                <a:latin typeface="Microsoft YaHei"/>
              </a:rPr>
              <a:t>店里已经有线索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0F2B46"/>
                </a:solidFill>
                <a:latin typeface="Microsoft YaHei"/>
              </a:rPr>
              <a:t>“王总，您店里现在有 5 条线索，是买家看了您资源之后留下的。但免费版只能看到条数、看不到是谁。980 开一下，这些人您就能直接联系。”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120640" cy="237744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20640" cy="4572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0292" cy="4572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钩子二 · 工具到期 + 认证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04872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F26A21"/>
                </a:solidFill>
                <a:latin typeface="Microsoft YaHei"/>
              </a:rPr>
              <a:t>适用：</a:t>
            </a:r>
            <a:r>
              <a:rPr sz="1350" b="0">
                <a:solidFill>
                  <a:srgbClr val="1D2A36"/>
                </a:solidFill>
                <a:latin typeface="Microsoft YaHei"/>
              </a:rPr>
              <a:t>冷启动期，暂时还没有线索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0F2B46"/>
                </a:solidFill>
                <a:latin typeface="Microsoft YaHei"/>
              </a:rPr>
              <a:t>“您海报工具今天到期了，这七天您发了 X 张、有 Y 个人扫过，停了就都没了。而且您店铺还没有认证标识，买家看到没验证过的商家，多数不会打电话。”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892040"/>
            <a:ext cx="10561320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892040"/>
            <a:ext cx="64008" cy="9144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93792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FFFFFF"/>
                </a:solidFill>
                <a:latin typeface="Microsoft YaHei"/>
              </a:rPr>
              <a:t>成交三前提（缺一个就不要开口要钱）：① 他已经用过（发过海报或看过看板）　② 他自己说出过痛点　③ 他看到过数字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840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244C71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46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痛点沟通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224528"/>
            <a:ext cx="1371600" cy="381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A9C2D8"/>
                </a:solidFill>
                <a:latin typeface="Microsoft YaHei"/>
              </a:rPr>
              <a:t>三问法与三个算账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257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7E9CB8"/>
                </a:solidFill>
                <a:latin typeface="Microsoft YaHei"/>
              </a:rPr>
              <a:t>问出来的痛才是痛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三问法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不要讲产品，先问这三个问题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B"/>
                </a:solidFill>
                <a:latin typeface="Microsoft YaHei"/>
              </a:rPr>
              <a:t>客户自己说出来的痛，才是痛。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6132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1051560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问一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929384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0F2B46"/>
                </a:solidFill>
                <a:latin typeface="Microsoft YaHei"/>
              </a:rPr>
              <a:t>您现在新客户主要从哪来？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313432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摸清获客现状。多数答案是“老客户介绍”“销售跑出来的”——线上等于零。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34640"/>
            <a:ext cx="10561320" cy="914400"/>
          </a:xfrm>
          <a:prstGeom prst="rect">
            <a:avLst/>
          </a:prstGeom>
          <a:solidFill>
            <a:srgbClr val="FFFFFF"/>
          </a:solidFill>
          <a:ln w="2032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834640"/>
            <a:ext cx="1051560" cy="9144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问二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80944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0F2B46"/>
                </a:solidFill>
                <a:latin typeface="Microsoft YaHei"/>
              </a:rPr>
              <a:t>您让销售发朋友圈、发社群吗？发了之后您怎么知道有没有用？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364992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全案最狠的一问。他答不出来（因为真的不知道）——980 的价值当场成立。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886200"/>
            <a:ext cx="1056132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886200"/>
            <a:ext cx="1051560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78808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问三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032504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0F2B46"/>
                </a:solidFill>
                <a:latin typeface="Microsoft YaHei"/>
              </a:rPr>
              <a:t>一个陌生买家在网上第一次看到您，凭什么敢给您打电话？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416552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挖出信任缺失——1,980 的价值当场成立。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120640"/>
            <a:ext cx="10561320" cy="96012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24865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B020"/>
                </a:solidFill>
                <a:latin typeface="Microsoft YaHei"/>
              </a:rPr>
              <a:t>三问结束后不要急着报价，先总结他的话：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59552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“所以您现在是——新客户全靠人跑，线上等于没有；销售天天发朋友圈，谁也说不清有没有用；陌生买家看到您也不敢联系。是这样吧？”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00" b="1" i="0">
                <a:solidFill>
                  <a:srgbClr val="2C577C"/>
                </a:solidFill>
                <a:latin typeface="Microsoft YaHei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B020"/>
                </a:solidFill>
                <a:latin typeface="Microsoft YaHei"/>
              </a:rPr>
              <a:t>三问法的收口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966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他点头，你就已经成交一半了。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983480"/>
            <a:ext cx="1097280" cy="381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A9C2D8"/>
                </a:solidFill>
                <a:latin typeface="Microsoft YaHei"/>
              </a:rPr>
              <a:t>客户自己承认的问题，不需要你再去说服。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价值塑造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三个算账：用他自己的数字算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56132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4864" cy="10972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36192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2B46"/>
                </a:solidFill>
                <a:latin typeface="Microsoft YaHei"/>
              </a:rPr>
              <a:t>算人力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打 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554480"/>
            <a:ext cx="8321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D2A36"/>
                </a:solidFill>
                <a:latin typeface="Microsoft YaHei"/>
              </a:rPr>
              <a:t>“您有几个销售？每人每天发朋友圈半小时——X 个人一年就是几百个小时。这些时间您已经付了工资，但发的都是客户不想看的内容，等于白花。”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06040"/>
            <a:ext cx="1056132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606040"/>
            <a:ext cx="54864" cy="10972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770632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2B46"/>
                </a:solidFill>
                <a:latin typeface="Microsoft YaHei"/>
              </a:rPr>
              <a:t>算线索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打 980 / 1,980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788920"/>
            <a:ext cx="8321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D2A36"/>
                </a:solidFill>
                <a:latin typeface="Microsoft YaHei"/>
              </a:rPr>
              <a:t>“钢贸一单利润多少？就算几千块。3 条询盘成 1 条，980 就回来了；10 条成 2 条，1,980 也回来了。剩下工具和认证都是白得的。”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840480"/>
            <a:ext cx="1056132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840480"/>
            <a:ext cx="54864" cy="10972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05072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2B46"/>
                </a:solidFill>
                <a:latin typeface="Microsoft YaHei"/>
              </a:rPr>
              <a:t>算丢单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348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打 1,980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023360"/>
            <a:ext cx="8321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D2A36"/>
                </a:solidFill>
                <a:latin typeface="Microsoft YaHei"/>
              </a:rPr>
              <a:t>“过去半年有没有过”客户问了价、后来没影了“？有多少是因为他觉得不太放心？一单没成就是几千上万，认证一年才一千块。”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840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244C71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46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抗拒解除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224528"/>
            <a:ext cx="1371600" cy="381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A9C2D8"/>
                </a:solidFill>
                <a:latin typeface="Microsoft YaHei"/>
              </a:rPr>
              <a:t>18 个高频异议，抽考 8 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257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7E9CB8"/>
                </a:solidFill>
                <a:latin typeface="Microsoft YaHei"/>
              </a:rPr>
              <a:t>第 1、2、4、5、8、18 条必考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异议库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高频异议标准答案　1—5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5613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0292" cy="9144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8132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26A21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46304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你们不做交易，我上来干什么？</a:t>
            </a:r>
            <a:r>
              <a:rPr sz="1350" b="0" i="0">
                <a:solidFill>
                  <a:srgbClr val="F26A21"/>
                </a:solidFill>
                <a:latin typeface="Microsoft YaHei"/>
              </a:rPr>
              <a:t>　［最致命］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177393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A：正因为我们不做交易，您才敢用。我们不抽成、不碰您的客户、不跟您抢生意。买家看到您直接打给您，价格您自己谈、钱您自己收。做交易的平台，您敢把客户名单和成本价放上去吗？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105613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77440"/>
            <a:ext cx="50292" cy="9144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4871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26A21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46888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你们平台有人吗？没流量我上去也没用。</a:t>
            </a:r>
            <a:r>
              <a:rPr sz="1350" b="0" i="0">
                <a:solidFill>
                  <a:srgbClr val="F26A21"/>
                </a:solidFill>
                <a:latin typeface="Microsoft YaHei"/>
              </a:rPr>
              <a:t>　［第二致命］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77977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A：三步答：① 给硬数据（2,100+ 商家、2 万用户、每天 1,000+ 搜索、150 万吨）② 说流量来源（重点讲 3,000 家老客户在找货）③ “您不用信我说的，免费开七天看数据”。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83280"/>
            <a:ext cx="10561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383280"/>
            <a:ext cx="50292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49300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2B46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47472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我先用免费的看看。</a:t>
            </a:r>
            <a:r>
              <a:rPr sz="1350" b="0" i="0">
                <a:solidFill>
                  <a:srgbClr val="5A6B7B"/>
                </a:solidFill>
                <a:latin typeface="Microsoft YaHei"/>
              </a:rPr>
              <a:t>　［拖延］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78561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A：应该的，免费版永久有效。只提醒两点：海报工具只有 7 天，线索您只能看到条数看不到人。到时候看着有 5 条线索点不开，别着急就行。（留钩子，不硬推）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389120"/>
            <a:ext cx="105613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389120"/>
            <a:ext cx="50292" cy="9144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4988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26A21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48056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朋友圈我自己也能发，要你工具干嘛？</a:t>
            </a:r>
            <a:r>
              <a:rPr sz="1350" b="0" i="0">
                <a:solidFill>
                  <a:srgbClr val="F26A21"/>
                </a:solidFill>
                <a:latin typeface="Microsoft YaHei"/>
              </a:rPr>
              <a:t>　［必考］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479145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A：两层答：① 内容不一样——您发的是“我有货”没人点，我们一半是行情，买家每天要看价格。您会做图，但您没有行情数据。② 我们的能收回数据：谁扫的、从哪来，全在看板上。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394960"/>
            <a:ext cx="105613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394960"/>
            <a:ext cx="50292" cy="9144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55046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26A21"/>
                </a:solidFill>
                <a:latin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548640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980 能给我带来多少生意？</a:t>
            </a:r>
            <a:r>
              <a:rPr sz="1350" b="0" i="0">
                <a:solidFill>
                  <a:srgbClr val="F26A21"/>
                </a:solidFill>
                <a:latin typeface="Microsoft YaHei"/>
              </a:rPr>
              <a:t>　［ROI］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579729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A：我不能承诺成交，线索是询盘不是订单。但 3 条询盘成 1 条就回本，工具全年不限次用。我承诺的是让您看得见效果。另外每周有运营指导课，我们教您怎么把询盘跟成单。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60533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橙色边框 = 培训必考条目。总原则：只讲事实与分工，绝不贬低对手。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异议库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高频异议标准答案　6—10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561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0292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8132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2B46"/>
                </a:solidFill>
                <a:latin typeface="Microsoft YaHe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46304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线索是真的吗？会不会重复？</a:t>
            </a:r>
            <a:r>
              <a:rPr sz="1350" b="0" i="0">
                <a:solidFill>
                  <a:srgbClr val="5A6B7B"/>
                </a:solidFill>
                <a:latin typeface="Microsoft YaHei"/>
              </a:rPr>
              <a:t>　［质疑］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177393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A：都是买家在平台上看您资源后留下的真实行为，重复的会去重。您先开 980 拿 3 条验证——这 3 条就是让您验真假的。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10561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77440"/>
            <a:ext cx="50292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4871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2B46"/>
                </a:solidFill>
                <a:latin typeface="Microsoft YaHe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46888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认证还要花钱？工商信息不是公开的？</a:t>
            </a:r>
            <a:r>
              <a:rPr sz="1350" b="0" i="0">
                <a:solidFill>
                  <a:srgbClr val="5A6B7B"/>
                </a:solidFill>
                <a:latin typeface="Microsoft YaHei"/>
              </a:rPr>
              <a:t>　［认证］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77977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A：是公开的，但买家不会一家家去查。我们验过、标出来、按月复核。而且五维里的实景仓勘和生产厂家认证，工商信息里根本没有——那才是买家真想确认的。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83280"/>
            <a:ext cx="105613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383280"/>
            <a:ext cx="50292" cy="9144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49300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26A21"/>
                </a:solidFill>
                <a:latin typeface="Microsoft YaHe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47472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我已经在找钢网了。</a:t>
            </a:r>
            <a:r>
              <a:rPr sz="1350" b="0" i="0">
                <a:solidFill>
                  <a:srgbClr val="F26A21"/>
                </a:solidFill>
                <a:latin typeface="Microsoft YaHei"/>
              </a:rPr>
              <a:t>　［竞品·必考］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78561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A：继续用，不冲突。那是您的交易渠道，我们是您自己的线上门店和拓客工具。而且有一点可以对比：他们平台自己也有货源和交易员，我们不做交易。您的客户和报价放哪边更放心，您自己判断。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389120"/>
            <a:ext cx="10561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389120"/>
            <a:ext cx="50292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4988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2B46"/>
                </a:solidFill>
                <a:latin typeface="Microsoft YaHe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48056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9,800 太贵了。</a:t>
            </a:r>
            <a:r>
              <a:rPr sz="1350" b="0" i="0">
                <a:solidFill>
                  <a:srgbClr val="5A6B7B"/>
                </a:solidFill>
                <a:latin typeface="Microsoft YaHei"/>
              </a:rPr>
              <a:t>　［价格］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479145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A：一个月 800 多。这一档买的不是线索是位置——推荐位、Banner、置顶一天就那么几个坑。一次置顶接到一个大单，这一年就回来了。还配个顾问带着您做。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394960"/>
            <a:ext cx="105613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394960"/>
            <a:ext cx="50292" cy="9144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55046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26A21"/>
                </a:solidFill>
                <a:latin typeface="Microsoft YaHe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548640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我考虑一下 / 跟老板商量。</a:t>
            </a:r>
            <a:r>
              <a:rPr sz="1350" b="0" i="0">
                <a:solidFill>
                  <a:srgbClr val="F26A21"/>
                </a:solidFill>
                <a:latin typeface="Microsoft YaHei"/>
              </a:rPr>
              <a:t>　［拖延］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579729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A：应该商量。不过有件事今天就能定：免费开通不用商量。我现在给您开好、把资源挂上、海报发一张，七天后您拿着数据去跟老板说，比空口商量有用得多。（把大决策换成小决策）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60533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橙色边框 = 培训必考条目。总原则：只讲事实与分工，绝不贬低对手。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异议库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高频异议标准答案　11—15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561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0292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8132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2B46"/>
                </a:solidFill>
                <a:latin typeface="Microsoft YaHe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46304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能不能便宜点 / 打折？</a:t>
            </a:r>
            <a:r>
              <a:rPr sz="1350" b="0" i="0">
                <a:solidFill>
                  <a:srgbClr val="5A6B7B"/>
                </a:solidFill>
                <a:latin typeface="Microsoft YaHei"/>
              </a:rPr>
              <a:t>　［议价］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177393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A：价格全国统一，我打不了折——打了对先买的客户不公平。但我能帮您两件事：把资源全挂满、店铺内容做好；再上门培训一次您的销售用海报工具。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10561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77440"/>
            <a:ext cx="50292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4871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2B46"/>
                </a:solidFill>
                <a:latin typeface="Microsoft YaHe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46888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我们规模小，用不上。</a:t>
            </a:r>
            <a:r>
              <a:rPr sz="1350" b="0" i="0">
                <a:solidFill>
                  <a:srgbClr val="5A6B7B"/>
                </a:solidFill>
                <a:latin typeface="Microsoft YaHei"/>
              </a:rPr>
              <a:t>　［自我否定］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77977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A：规模小才更需要——大厂不上平台买家也知道他，您不上买家就真不知道您。而且您先用免费的，一分钱不花。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83280"/>
            <a:ext cx="10561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383280"/>
            <a:ext cx="50292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49300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2B46"/>
                </a:solidFill>
                <a:latin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47472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我不会用，买了也是白买。</a:t>
            </a:r>
            <a:r>
              <a:rPr sz="1350" b="0" i="0">
                <a:solidFill>
                  <a:srgbClr val="5A6B7B"/>
                </a:solidFill>
                <a:latin typeface="Microsoft YaHei"/>
              </a:rPr>
              <a:t>　［服务］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78561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A：每周一场线上运营指导课，专门教怎么发海报、什么时间发、店铺怎么装。开通后我把您和销售拉进群，第一张海报我当面教会您。用不起来是我们的责任。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389120"/>
            <a:ext cx="10561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389120"/>
            <a:ext cx="50292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4988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2B46"/>
                </a:solidFill>
                <a:latin typeface="Microsoft YaHei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48056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我能不能上你们那个行情直播？</a:t>
            </a:r>
            <a:r>
              <a:rPr sz="1350" b="0" i="0">
                <a:solidFill>
                  <a:srgbClr val="5A6B7B"/>
                </a:solidFill>
                <a:latin typeface="Microsoft YaHei"/>
              </a:rPr>
              <a:t>　［高意向信号］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479145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A：可以——旗舰版和尊享版含上镜位，您真人出镜报现货，早盘那场买家最多。这条直播您还可以转给自己的采购客户看，等于我们帮您做了一场专属宣传。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394960"/>
            <a:ext cx="10561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394960"/>
            <a:ext cx="50292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55046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2B46"/>
                </a:solidFill>
                <a:latin typeface="Microsoft YaHei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548640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你们平台会不会做两年就没了？</a:t>
            </a:r>
            <a:r>
              <a:rPr sz="1350" b="0" i="0">
                <a:solidFill>
                  <a:srgbClr val="5A6B7B"/>
                </a:solidFill>
                <a:latin typeface="Microsoft YaHei"/>
              </a:rPr>
              <a:t>　［风险］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579729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A：光研发工程师就有近 40 位，公司近 100 人，平台每个月都在更新。而且您的客户资料在自己后台、导得出来——我们不做交易也不碰您的客户，这些本来就是您的。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60533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橙色边框 = 培训必考条目。总原则：只讲事实与分工，绝不贬低对手。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异议库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高频异议标准答案　16—18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561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0292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8132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2B46"/>
                </a:solidFill>
                <a:latin typeface="Microsoft YaHe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46304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你们是搞互联网的，不懂钢贸。</a:t>
            </a:r>
            <a:r>
              <a:rPr sz="1350" b="0" i="0">
                <a:solidFill>
                  <a:srgbClr val="5A6B7B"/>
                </a:solidFill>
                <a:latin typeface="Microsoft YaHei"/>
              </a:rPr>
              <a:t>　［不懂行］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177393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A：我们创始人自己就是干钢贸出身的——做过销售、管过财务、当过总经理。平台上每个功能都是他当年被折磨过之后想出来的。您觉得哪儿不对，直接跟我说，我们改。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10561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77440"/>
            <a:ext cx="50292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4871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F2B46"/>
                </a:solidFill>
                <a:latin typeface="Microsoft YaHei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46888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买了之后没人管我怎么办？</a:t>
            </a:r>
            <a:r>
              <a:rPr sz="1350" b="0" i="0">
                <a:solidFill>
                  <a:srgbClr val="5A6B7B"/>
                </a:solidFill>
                <a:latin typeface="Microsoft YaHei"/>
              </a:rPr>
              <a:t>　［服务］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77977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A：三层服务：全员每周运营指导课；认证版起有在线人工客服；旗舰版配专属运营顾问、尊享版配 1 对 1 客户成功经理。而且教您的人是钢贸出身的。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83280"/>
            <a:ext cx="105613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383280"/>
            <a:ext cx="50292" cy="9144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49300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26A21"/>
                </a:solidFill>
                <a:latin typeface="Microsoft YaHei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474720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5A6B7B"/>
                </a:solidFill>
                <a:latin typeface="Microsoft YaHei"/>
              </a:rPr>
              <a:t>Q：</a:t>
            </a:r>
            <a:r>
              <a:rPr sz="1350" b="1" i="0">
                <a:solidFill>
                  <a:srgbClr val="0F2B46"/>
                </a:solidFill>
                <a:latin typeface="Microsoft YaHei"/>
              </a:rPr>
              <a:t>我的客户扫码进来会看到别家，私域客户不就流失了？</a:t>
            </a:r>
            <a:r>
              <a:rPr sz="1350" b="0" i="0">
                <a:solidFill>
                  <a:srgbClr val="F26A21"/>
                </a:solidFill>
                <a:latin typeface="Microsoft YaHei"/>
              </a:rPr>
              <a:t>　［结构性·必考］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785616"/>
            <a:ext cx="98023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30" b="0" i="0">
                <a:solidFill>
                  <a:srgbClr val="1D2A36"/>
                </a:solidFill>
                <a:latin typeface="Microsoft YaHei"/>
              </a:rPr>
              <a:t>A：不许硬辩解。先承认“这担心是对的”，再讲两条现在成立的事实：① 您的老客户现在也在比价，您不给看他也在看，真正决定成交的是他觉不觉得跟您买更稳；② 海报是拓新客的工具，不是发给老客户的（这是我们没讲清楚）。并主动告知产品正在做专属落地页与归属锁定。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0533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B"/>
                </a:solidFill>
                <a:latin typeface="Microsoft YaHei"/>
              </a:rPr>
              <a:t>橙色边框 = 培训必考条目。总原则：只讲事实与分工，绝不贬低对手。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840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244C71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46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成交动作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224528"/>
            <a:ext cx="1371600" cy="381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A9C2D8"/>
                </a:solidFill>
                <a:latin typeface="Microsoft YaHei"/>
              </a:rPr>
              <a:t>三前提 · 三句话 · 成交后三件事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成交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三句成交话术（按情况选一句）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561320" cy="93268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2148840" cy="93268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线索型（最强）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554480"/>
            <a:ext cx="8046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0F2B46"/>
                </a:solidFill>
                <a:latin typeface="Microsoft YaHei"/>
              </a:rPr>
              <a:t>“您店里现在有 X 条线索，都是看过您资源的买家。980 开通，今天就能联系上。我现在帮您开？”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50592"/>
            <a:ext cx="10561320" cy="93268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50592"/>
            <a:ext cx="2148840" cy="93268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52344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到期型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33472"/>
            <a:ext cx="8046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0F2B46"/>
                </a:solidFill>
                <a:latin typeface="Microsoft YaHei"/>
              </a:rPr>
              <a:t>“海报工具今天到期，这七天您发了 X 张、Y 个人扫过。续上是 980 一年，停了这些就都没了。”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29584"/>
            <a:ext cx="10561320" cy="932688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29584"/>
            <a:ext cx="2148840" cy="93268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31336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升级型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12464"/>
            <a:ext cx="8046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0F2B46"/>
                </a:solidFill>
                <a:latin typeface="Microsoft YaHei"/>
              </a:rPr>
              <a:t>“加 1,000 块，线索从 3 条到 10 条，多的一条才 143 块，认证和精装店铺白送。这一档最划算，我给您升上去？”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92040"/>
            <a:ext cx="10561320" cy="12801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892040"/>
            <a:ext cx="64008" cy="128016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047488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B020"/>
                </a:solidFill>
                <a:latin typeface="Microsoft YaHei"/>
              </a:rPr>
              <a:t>成交后必须做的三件事（决定续费与升级）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13248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F26A21"/>
                </a:solidFill>
                <a:latin typeface="Microsoft YaHei"/>
              </a:rPr>
              <a:t>① </a:t>
            </a:r>
            <a:r>
              <a:rPr sz="1300" b="0">
                <a:solidFill>
                  <a:srgbClr val="FFFFFF"/>
                </a:solidFill>
                <a:latin typeface="Microsoft YaHei"/>
              </a:rPr>
              <a:t>当场把店铺内容补全（认证资料、主营规格、企业介绍）——开通不等于开始用；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F26A21"/>
                </a:solidFill>
                <a:latin typeface="Microsoft YaHei"/>
              </a:rPr>
              <a:t>② </a:t>
            </a:r>
            <a:r>
              <a:rPr sz="1300" b="0">
                <a:solidFill>
                  <a:srgbClr val="FFFFFF"/>
                </a:solidFill>
                <a:latin typeface="Microsoft YaHei"/>
              </a:rPr>
              <a:t>拉群，教会至少 2 名销售用海报工具，并把他们拉进每周运营指导课；　</a:t>
            </a:r>
            <a:r>
              <a:rPr sz="1300" b="1">
                <a:solidFill>
                  <a:srgbClr val="F26A21"/>
                </a:solidFill>
                <a:latin typeface="Microsoft YaHei"/>
              </a:rPr>
              <a:t>③ </a:t>
            </a:r>
            <a:r>
              <a:rPr sz="1300" b="0">
                <a:solidFill>
                  <a:srgbClr val="FFFFFF"/>
                </a:solidFill>
                <a:latin typeface="Microsoft YaHei"/>
              </a:rPr>
              <a:t>约下次复盘：“下个月这个时候我来给您看一次数据。”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840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0" b="1" i="0">
                <a:solidFill>
                  <a:srgbClr val="244C71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46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培训与红线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224528"/>
            <a:ext cx="1371600" cy="381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2628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A9C2D8"/>
                </a:solidFill>
                <a:latin typeface="Microsoft YaHei"/>
              </a:rPr>
              <a:t>3 天怎么练 · 9 条不许碰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培训安排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3 天大纲与考核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3346704" cy="329184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3346704" cy="65836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46304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755648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6D8E8"/>
                </a:solidFill>
                <a:latin typeface="Microsoft YaHei"/>
              </a:rPr>
              <a:t>认知与动手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212848"/>
            <a:ext cx="296265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三句地基逐字复述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五档一句话 + 线索阶梯背诵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平台四个数据 + 六大流量来源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海报机制必背话术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实操：注册、上架 10 个规格、做 3 张海报、看懂看板（限时 30 分钟）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1371600"/>
            <a:ext cx="3346704" cy="329184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371600"/>
            <a:ext cx="3346704" cy="65836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46304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755648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6D8E8"/>
                </a:solidFill>
                <a:latin typeface="Microsoft YaHei"/>
              </a:rPr>
              <a:t>痛点与异议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12848"/>
            <a:ext cx="296265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三问法角色演练：问出并总结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三个算账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18 条异议抽考 8 条（1/2/4/5/8/18 必考）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980 → 1,980 黄金话术口试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信任状用法纪律 + 创始人两个用法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1371600"/>
            <a:ext cx="3346704" cy="329184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371600"/>
            <a:ext cx="3346704" cy="65836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46304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Day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755648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6D8E8"/>
                </a:solidFill>
                <a:latin typeface="Microsoft YaHei"/>
              </a:rPr>
              <a:t>实战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212848"/>
            <a:ext cx="2962656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完整路径通关演练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陪访 2 家真实客户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至少 1 家当场免费开通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当场铺满资源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8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80" b="0">
                <a:solidFill>
                  <a:srgbClr val="1D2A36"/>
                </a:solidFill>
                <a:latin typeface="Microsoft YaHei"/>
              </a:rPr>
              <a:t>当场做出 1 张行情海报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486400"/>
            <a:ext cx="10561320" cy="65836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66013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出师标准（四条全达标才可独立跑）：五句一句话零错误 · 平台四个数据零错误 · 三问法能自然问出并总结 · 三个动作能独立完成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26A21"/>
                </a:solidFill>
                <a:latin typeface="Microsoft YaHei"/>
              </a:rPr>
              <a:t>纪律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F2B46"/>
                </a:solidFill>
                <a:latin typeface="Microsoft YaHei"/>
              </a:rPr>
              <a:t>10 条销售红线（违反即追责）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120640" cy="548640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457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99616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453896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1D2A36"/>
                </a:solidFill>
                <a:latin typeface="Microsoft YaHei"/>
              </a:rPr>
              <a:t>不许承诺线索一定成交 —— 统一口径：线索是询盘，不是订单。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120640" cy="548640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457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99616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1453896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1D2A36"/>
                </a:solidFill>
                <a:latin typeface="Microsoft YaHei"/>
              </a:rPr>
              <a:t>不许承诺具体成交金额、客户数或排名位次。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029968"/>
            <a:ext cx="5120640" cy="548640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029968"/>
            <a:ext cx="457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15798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2112264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1D2A36"/>
                </a:solidFill>
                <a:latin typeface="Microsoft YaHei"/>
              </a:rPr>
              <a:t>不许打折、不许私下让价 —— 要优惠就给“帮做店铺内容 + 上门培训”。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029968"/>
            <a:ext cx="5120640" cy="548640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029968"/>
            <a:ext cx="457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5798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2112264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1D2A36"/>
                </a:solidFill>
                <a:latin typeface="Microsoft YaHei"/>
              </a:rPr>
              <a:t>不许说“我们也能帮你成交/帮你卖货” —— 违反平台不做交易的定位。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2688336"/>
            <a:ext cx="5120640" cy="548640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2688336"/>
            <a:ext cx="457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281635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2770632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1D2A36"/>
                </a:solidFill>
                <a:latin typeface="Microsoft YaHei"/>
              </a:rPr>
              <a:t>不许贬低竞对平台 —— 统一用“继续用，不冲突”的分工话术。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688336"/>
            <a:ext cx="5120640" cy="548640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688336"/>
            <a:ext cx="457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81635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Microsoft Ya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2770632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1D2A36"/>
                </a:solidFill>
                <a:latin typeface="Microsoft YaHei"/>
              </a:rPr>
              <a:t>不许代替客户填写认证资料或提供虚假认证材料。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346704"/>
            <a:ext cx="5120640" cy="548640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3346704"/>
            <a:ext cx="457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34747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Microsoft YaHe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3429000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1D2A36"/>
                </a:solidFill>
                <a:latin typeface="Microsoft YaHei"/>
              </a:rPr>
              <a:t>不许把某商家的买家线索透露给其他商家。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346704"/>
            <a:ext cx="5120640" cy="548640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346704"/>
            <a:ext cx="457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4747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Microsoft YaHe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3429000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1D2A36"/>
                </a:solidFill>
                <a:latin typeface="Microsoft YaHei"/>
              </a:rPr>
              <a:t>不许自行估算或加码平台数据；不许把“用户数”说成“买家数”。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4005072"/>
            <a:ext cx="5120640" cy="548640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4005072"/>
            <a:ext cx="457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13308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Microsoft YaHe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89888" y="4087368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1D2A36"/>
                </a:solidFill>
                <a:latin typeface="Microsoft YaHei"/>
              </a:rPr>
              <a:t>不许承诺上镜位的具体时段与出镜效果（排期由运营统一安排）。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005072"/>
            <a:ext cx="5120640" cy="548640"/>
          </a:xfrm>
          <a:prstGeom prst="rect">
            <a:avLst/>
          </a:prstGeom>
          <a:solidFill>
            <a:srgbClr val="F4F6F9"/>
          </a:solidFill>
          <a:ln w="11430">
            <a:solidFill>
              <a:srgbClr val="D8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005072"/>
            <a:ext cx="457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413308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Microsoft YaHe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568" y="4087368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80" b="0" i="0">
                <a:solidFill>
                  <a:srgbClr val="1D2A36"/>
                </a:solidFill>
                <a:latin typeface="Microsoft YaHei"/>
              </a:rPr>
              <a:t>不许宣称产品尚未具备的能力 —— 尤其“扫码只进您自己的店”，上线前一律不许说。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B020"/>
                </a:solidFill>
                <a:latin typeface="Microsoft YaHei"/>
              </a:rPr>
              <a:t>POCKET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858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</a:rPr>
              <a:t>一页纸随身卡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481328"/>
            <a:ext cx="3429000" cy="2121408"/>
          </a:xfrm>
          <a:prstGeom prst="rect">
            <a:avLst/>
          </a:prstGeom>
          <a:solidFill>
            <a:srgbClr val="081A2B"/>
          </a:solidFill>
          <a:ln w="12700">
            <a:solidFill>
              <a:srgbClr val="1B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481328"/>
            <a:ext cx="3429000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6642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B020"/>
                </a:solidFill>
                <a:latin typeface="Microsoft YaHei"/>
              </a:rPr>
              <a:t>三句地基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048256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不做交易、不抽成、不抢客户 —— 只让买家看到你、相信你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五档 = 有没有 / 有没有用 / 敢不敢 / 多不多 / 是不是第一眼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免费版只见条数不见人 —— 等线索出现，它自己会成交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2271" y="1481328"/>
            <a:ext cx="3429000" cy="2121408"/>
          </a:xfrm>
          <a:prstGeom prst="rect">
            <a:avLst/>
          </a:prstGeom>
          <a:solidFill>
            <a:srgbClr val="081A2B"/>
          </a:solidFill>
          <a:ln w="12700">
            <a:solidFill>
              <a:srgbClr val="1B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1" y="1481328"/>
            <a:ext cx="3429000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1" y="16642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B020"/>
                </a:solidFill>
                <a:latin typeface="Microsoft YaHei"/>
              </a:rPr>
              <a:t>平台四个数据（每月更新）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1" y="2048256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2,100+ 商家 · 20,000 用户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每天 1,000+ 次搜索 · 日活跃库存 150 万吨+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讲数据必须带趋势：“每个月都在往上走”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8" y="1481328"/>
            <a:ext cx="3429000" cy="2121408"/>
          </a:xfrm>
          <a:prstGeom prst="rect">
            <a:avLst/>
          </a:prstGeom>
          <a:solidFill>
            <a:srgbClr val="081A2B"/>
          </a:solidFill>
          <a:ln w="12700">
            <a:solidFill>
              <a:srgbClr val="1B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8" y="1481328"/>
            <a:ext cx="3429000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16642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B020"/>
                </a:solidFill>
                <a:latin typeface="Microsoft YaHei"/>
              </a:rPr>
              <a:t>五句一句话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2048256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0 元：先免费开个店，让买家能搜到你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980：让销售发的朋友圈第一次能看见效果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1,980：让陌生买家敢联系你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9,800：让平台把流量推给你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19,800：成为买家第一眼看到的那家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3877056"/>
            <a:ext cx="3429000" cy="2121408"/>
          </a:xfrm>
          <a:prstGeom prst="rect">
            <a:avLst/>
          </a:prstGeom>
          <a:solidFill>
            <a:srgbClr val="081A2B"/>
          </a:solidFill>
          <a:ln w="12700">
            <a:solidFill>
              <a:srgbClr val="1B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" y="3877056"/>
            <a:ext cx="3429000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0599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B020"/>
                </a:solidFill>
                <a:latin typeface="Microsoft YaHei"/>
              </a:rPr>
              <a:t>三问法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新客户主要从哪来？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让销售发朋友圈吗？怎么知道有没有用？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陌生买家凭什么敢给您打电话？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2271" y="3877056"/>
            <a:ext cx="3429000" cy="2121408"/>
          </a:xfrm>
          <a:prstGeom prst="rect">
            <a:avLst/>
          </a:prstGeom>
          <a:solidFill>
            <a:srgbClr val="081A2B"/>
          </a:solidFill>
          <a:ln w="12700">
            <a:solidFill>
              <a:srgbClr val="1B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62271" y="3877056"/>
            <a:ext cx="3429000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1" y="40599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B020"/>
                </a:solidFill>
                <a:latin typeface="Microsoft YaHei"/>
              </a:rPr>
              <a:t>Day 0 四动作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1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当场开通 → 挂 5—10 个规格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当场做“行情 + 现货”海报（边做边讲）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加微信埋钩子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8" y="3877056"/>
            <a:ext cx="3429000" cy="2121408"/>
          </a:xfrm>
          <a:prstGeom prst="rect">
            <a:avLst/>
          </a:prstGeom>
          <a:solidFill>
            <a:srgbClr val="081A2B"/>
          </a:solidFill>
          <a:ln w="12700">
            <a:solidFill>
              <a:srgbClr val="1B4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8" y="3877056"/>
            <a:ext cx="3429000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8" y="40599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B020"/>
                </a:solidFill>
                <a:latin typeface="Microsoft YaHei"/>
              </a:rPr>
              <a:t>线索单价 · 黄金话术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8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980→327 元　1,980→198 元（最低）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9,800→327 元　19,800→396 元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F26A21"/>
                </a:solidFill>
                <a:latin typeface="Microsoft YaHei"/>
              </a:rPr>
              <a:t>· </a:t>
            </a:r>
            <a:r>
              <a:rPr sz="1100" b="0">
                <a:solidFill>
                  <a:srgbClr val="DCE7F1"/>
                </a:solidFill>
                <a:latin typeface="Microsoft YaHei"/>
              </a:rPr>
              <a:t>加 1,000 块多 7 条，一条才 143 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199632"/>
            <a:ext cx="10607040" cy="38404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626364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最狠的一句：“您让销售天天发朋友圈——您不知道有没有用，他也不知道。好销售就是这么被磨走的。”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B020"/>
                </a:solidFill>
                <a:latin typeface="Microsoft YaHei"/>
              </a:rPr>
              <a:t>现在开始做的三件事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 i="0">
                <a:solidFill>
                  <a:srgbClr val="FFFFFF"/>
                </a:solidFill>
                <a:latin typeface="Microsoft YaHei"/>
              </a:rPr>
              <a:t>背五句　问三问　做四动作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3127248"/>
            <a:ext cx="1645920" cy="50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2044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1">
                <a:solidFill>
                  <a:srgbClr val="F26A21"/>
                </a:solidFill>
                <a:latin typeface="Microsoft YaHei"/>
              </a:rPr>
              <a:t>剩下的，让线索自己去成交。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0">
                <a:solidFill>
                  <a:srgbClr val="9FBAD2"/>
                </a:solidFill>
                <a:latin typeface="Microsoft YaHei"/>
              </a:rPr>
              <a:t>完整文字版见《货袋子平台销售话术手册》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0">
                <a:solidFill>
                  <a:srgbClr val="7E9CB8"/>
                </a:solidFill>
                <a:latin typeface="Microsoft YaHei"/>
              </a:rPr>
              <a:t>www.huodaizi.com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8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货袋子平台销售培训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B7B"/>
                </a:solidFill>
                <a:latin typeface="Microsoft YaHei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